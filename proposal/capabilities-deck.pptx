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3C5FD"/>
                </a:solidFill>
                <a:latin typeface="Helvetica Neue"/>
              </a:rPr>
              <a:t>PROPOSAL IN RESPONSE TO RFP MC-2026-0417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Helvetica Neue"/>
              </a:rPr>
              <a:t>Modernizing Meridian's
Inventory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BD5E1"/>
                </a:solidFill>
                <a:latin typeface="Helvetica Neue"/>
              </a:rPr>
              <a:t>A focused engagement to stabilize, extend, and future-proof the operations team's daily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Helvetica Neue"/>
              </a:rPr>
              <a:t>Prepared for Meridian Components, Inc.  ·  J. Okafor, Director of 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Helvetica Neue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A capable system that can't safely move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The Reports module has known, unresolved defects from the previous build.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Operations has no way to turn stock and demand data into a purchasing decision.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Zero automated test coverage means IT won't approve further changes.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The dashboard is stuck: functional today, unable to safely evolve.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The gaps are specific, not vague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b="1" sz="1600">
                <a:solidFill>
                  <a:srgbClr val="0F172A"/>
                </a:solidFill>
                <a:latin typeface="Helvetica Neue"/>
              </a:rPr>
              <a:t>Reports.vue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Helvetica Neue"/>
              </a:rPr>
              <a:t>The one view still on the old code pattern, bypassing the shared data layer, with leftover debug logging and no translation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10312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b="1" sz="1600">
                <a:solidFill>
                  <a:srgbClr val="0F172A"/>
                </a:solidFill>
                <a:latin typeface="Helvetica Neue"/>
              </a:rPr>
              <a:t>Restocking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Helvetica Neue"/>
              </a:rPr>
              <a:t>Stock and demand data already exist in the system. A model for purchase orders was even started, but never connected.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b="1" sz="1600">
                <a:solidFill>
                  <a:srgbClr val="0F172A"/>
                </a:solidFill>
                <a:latin typeface="Helvetica Neue"/>
              </a:rPr>
              <a:t>Testing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Helvetica Neue"/>
              </a:rPr>
              <a:t>No automated coverage exists anywhere in the application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/>
            <a:r>
              <a:rPr b="1" sz="1600">
                <a:solidFill>
                  <a:srgbClr val="0F172A"/>
                </a:solidFill>
                <a:latin typeface="Helvetica Neue"/>
              </a:rPr>
              <a:t>Architecture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300">
                <a:solidFill>
                  <a:srgbClr val="64748B"/>
                </a:solidFill>
                <a:latin typeface="Helvetica Neue"/>
              </a:rPr>
              <a:t>Simple, well-understood stack. A few configuration items worth hardening as we go, not rebuilding.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Required and desired scope, per the RFP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8686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94360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4748B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4748B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4748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Reports module remediation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40A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Restocking 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40A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Automated browser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40A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Architecture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40AF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UI modernization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</a:rPr>
                        <a:t>Desired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Internationalization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</a:rPr>
                        <a:t>Desired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72A"/>
                          </a:solidFill>
                        </a:rPr>
                        <a:t>Dark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4748B"/>
                          </a:solidFill>
                        </a:rPr>
                        <a:t>Desired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Sequenced by risk, not just by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Helvetica Neue"/>
              </a:rPr>
              <a:t>•  Review first.</a:t>
            </a:r>
            <a:r>
              <a:rPr b="0" sz="1800">
                <a:solidFill>
                  <a:srgbClr val="0F172A"/>
                </a:solidFill>
                <a:latin typeface="Helvetica Neue"/>
              </a:rPr>
              <a:t> Understand the system before changing it.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Helvetica Neue"/>
              </a:rPr>
              <a:t>•  Fix what's visible.</a:t>
            </a:r>
            <a:r>
              <a:rPr b="0" sz="1800">
                <a:solidFill>
                  <a:srgbClr val="0F172A"/>
                </a:solidFill>
                <a:latin typeface="Helvetica Neue"/>
              </a:rPr>
              <a:t> Reports remediation rebuilds trust early.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Helvetica Neue"/>
              </a:rPr>
              <a:t>•  Build what matters most.</a:t>
            </a:r>
            <a:r>
              <a:rPr b="0" sz="1800">
                <a:solidFill>
                  <a:srgbClr val="0F172A"/>
                </a:solidFill>
                <a:latin typeface="Helvetica Neue"/>
              </a:rPr>
              <a:t> Restocking, the operations team's top ask.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  <a:latin typeface="Helvetica Neue"/>
              </a:rPr>
              <a:t>•  Test throughout, not at the end.</a:t>
            </a:r>
            <a:r>
              <a:rPr b="0" sz="1800">
                <a:solidFill>
                  <a:srgbClr val="0F172A"/>
                </a:solidFill>
                <a:latin typeface="Helvetica Neue"/>
              </a:rPr>
              <a:t> Every phase ships with coverage for what it touched.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R4 — ARCHITECTURE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Understand it, document it, harden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Audit the stack, data flow, and full API surface.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Deliver current-state documentation suitable for IT handoff.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Flag configuration items worth addressing (e.g. access controls, data storage) as we 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R1 — REPORTS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Bring Reports in line with the rest of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Migrate to the same patterns already used by every other view.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Add translation support, matching the system already in place elsewhere.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Remove leftover debug output; resolve filter and formatting inconsistencies.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Treat Meridian's 8 logged issues as a floor — full audit included.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R2 — RESTOCKING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From data to a purchasing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64748B"/>
                </a:solidFill>
                <a:latin typeface="Helvetica Neue"/>
              </a:rPr>
              <a:t>Stock levels + demand forecast + budget ceiling → recommended purchase orders.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New view built on data the system already has.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Completes purchase-order functionality the previous vendor started but didn't finish.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The centerpiece of this engagement for the operations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R3 — AUTOMATED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A safety net that grows with every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No coverage exists today — this unblocks IT's ability to approve future changes.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Tests ship alongside each phase's work, not as a separate deliverable at the end.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>
                <a:solidFill>
                  <a:srgbClr val="0F172A"/>
                </a:solidFill>
                <a:latin typeface="Helvetica Neue"/>
              </a:rPr>
              <a:t>•  Flows prioritized by risk, informed by the architecture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12 weeks, ahead of Q4 restocking season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17627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Helvetica Neue"/>
              </a:rPr>
              <a:t>Wk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Helvetica Neue"/>
              </a:rPr>
              <a:t>Architecture review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86207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Helvetica Neue"/>
              </a:rPr>
              <a:t>Wk 3–4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88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Helvetica Neue"/>
              </a:rPr>
              <a:t>Reports remediation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54787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Helvetica Neue"/>
              </a:rPr>
              <a:t>Wk 5–9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Helvetica Neue"/>
              </a:rPr>
              <a:t>Restocking build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23367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Helvetica Neue"/>
              </a:rPr>
              <a:t>Wk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Helvetica Neue"/>
              </a:rPr>
              <a:t>Test coverage close-out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919472"/>
            <a:ext cx="146304" cy="14630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Helvetica Neue"/>
              </a:rPr>
              <a:t>Wk 11–12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Desired items, time-permitting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Helvetica Neue"/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  <a:latin typeface="Helvetica Neue"/>
              </a:rPr>
              <a:t>Fixed fee for required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Helvetica Neue"/>
              </a:rPr>
              <a:t>Required scope (R1–R4) — fixed 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103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F172A"/>
                </a:solidFill>
                <a:latin typeface="Helvetica Neue"/>
              </a:rPr>
              <a:t>$80,000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670048"/>
            <a:ext cx="103327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880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0F172A"/>
                </a:solidFill>
                <a:latin typeface="Helvetica Neue"/>
              </a:rPr>
              <a:t>Desired scope (D1–D3) — T&amp;M, not-to-exceed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80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F172A"/>
                </a:solidFill>
                <a:latin typeface="Helvetica Neue"/>
              </a:rPr>
              <a:t>up to $26,000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447288"/>
            <a:ext cx="103327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657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Helvetica Neue"/>
              </a:rPr>
              <a:t>Combined ceiling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F172A"/>
                </a:solidFill>
                <a:latin typeface="Helvetica Neue"/>
              </a:rPr>
              <a:t>$106,000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Helvetica Neue"/>
              </a:rPr>
              <a:t>Required scope does not depend on desired scope being funded.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Helvetica Neue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93C5FD"/>
                </a:solidFill>
                <a:latin typeface="Helvetica Neue"/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Helvetica Neue"/>
              </a:rPr>
              <a:t>We've seen this exact pattern 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BD5E1"/>
                </a:solidFill>
                <a:latin typeface="Helvetica Neue"/>
              </a:rPr>
              <a:t>Inherited system, incomplete build, one feature the operations team is waiting on. We stabilize first, then build, with testing carried throughout, not bolted on at the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2004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4A3B8"/>
                </a:solidFill>
                <a:latin typeface="Helvetica Neue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